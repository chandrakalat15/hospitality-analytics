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0" r:id="rId18"/>
    <p:sldId id="274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363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6233A"/>
                </a:solidFill>
                <a:latin typeface="Aptos Display"/>
              </a:defRPr>
            </a:pPr>
            <a:r>
              <a:t>HOSPITALITY ANALYTICS</a:t>
            </a:r>
          </a:p>
          <a:p>
            <a:pPr>
              <a:defRPr sz="2500">
                <a:solidFill>
                  <a:srgbClr val="2463EB"/>
                </a:solidFill>
                <a:latin typeface="Aptos"/>
              </a:defRPr>
            </a:pPr>
            <a:r>
              <a:t>Final Business Intelligence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Excel  •  MySQL / SQL  •  Power BI  •  Tableau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Revenue | Bookings | Occupancy | Cancellations | Customer &amp; Channel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75480"/>
            <a:ext cx="40822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rPr b="1" dirty="0"/>
              <a:t>Prepared for final project review / viva</a:t>
            </a:r>
            <a:endParaRPr lang="en-US" b="1" dirty="0"/>
          </a:p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rPr lang="en-US" b="1" dirty="0"/>
              <a:t>Team Members :</a:t>
            </a:r>
          </a:p>
          <a:p>
            <a:pPr marL="228600" indent="-228600">
              <a:buAutoNum type="arabicPeriod"/>
              <a:defRPr sz="1200">
                <a:solidFill>
                  <a:srgbClr val="475569"/>
                </a:solidFill>
                <a:latin typeface="Aptos"/>
              </a:defRPr>
            </a:pPr>
            <a:r>
              <a:rPr lang="en-US" b="1" dirty="0"/>
              <a:t>Chandrakala T</a:t>
            </a:r>
          </a:p>
          <a:p>
            <a:pPr marL="228600" indent="-228600">
              <a:buAutoNum type="arabicPeriod"/>
              <a:defRPr sz="1200">
                <a:solidFill>
                  <a:srgbClr val="475569"/>
                </a:solidFill>
                <a:latin typeface="Aptos"/>
              </a:defRPr>
            </a:pPr>
            <a:r>
              <a:rPr lang="en-US" b="1" dirty="0"/>
              <a:t>Nivedita </a:t>
            </a:r>
            <a:r>
              <a:rPr lang="en-US" b="1" dirty="0" err="1"/>
              <a:t>Sarnad</a:t>
            </a:r>
            <a:r>
              <a:rPr lang="en-US" b="1" dirty="0"/>
              <a:t> </a:t>
            </a:r>
          </a:p>
          <a:p>
            <a:pPr marL="228600" indent="-228600">
              <a:buAutoNum type="arabicPeriod"/>
              <a:defRPr sz="1200">
                <a:solidFill>
                  <a:srgbClr val="475569"/>
                </a:solidFill>
                <a:latin typeface="Aptos"/>
              </a:defRPr>
            </a:pPr>
            <a:r>
              <a:rPr lang="en-US" b="1" dirty="0"/>
              <a:t>Ketan Jadav </a:t>
            </a:r>
          </a:p>
          <a:p>
            <a:pPr marL="228600" indent="-228600">
              <a:buAutoNum type="arabicPeriod"/>
              <a:defRPr sz="1200">
                <a:solidFill>
                  <a:srgbClr val="475569"/>
                </a:solidFill>
                <a:latin typeface="Aptos"/>
              </a:defRPr>
            </a:pPr>
            <a:r>
              <a:rPr lang="en-US" b="1" dirty="0"/>
              <a:t>Gowtham M</a:t>
            </a:r>
          </a:p>
          <a:p>
            <a:pPr marL="228600" indent="-228600">
              <a:buAutoNum type="arabicPeriod"/>
              <a:defRPr sz="1200">
                <a:solidFill>
                  <a:srgbClr val="475569"/>
                </a:solidFill>
                <a:latin typeface="Aptos"/>
              </a:defRPr>
            </a:pPr>
            <a:r>
              <a:rPr lang="en-US" b="1" dirty="0"/>
              <a:t>Rajveer Singh</a:t>
            </a:r>
          </a:p>
          <a:p>
            <a:pPr marL="228600" indent="-228600">
              <a:buAutoNum type="arabicPeriod"/>
              <a:defRPr sz="1200">
                <a:solidFill>
                  <a:srgbClr val="475569"/>
                </a:solidFill>
                <a:latin typeface="Aptos"/>
              </a:defRPr>
            </a:pPr>
            <a:r>
              <a:rPr lang="en-US" b="1" dirty="0"/>
              <a:t>Vedant Kannan</a:t>
            </a:r>
          </a:p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PROJECT TEAM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Collaborative ownership across data preparation, analytics, visualization and business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581912"/>
            <a:ext cx="621792" cy="621792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511" y="1682495"/>
            <a:ext cx="4026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63039"/>
            <a:ext cx="4160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ptos Display"/>
              </a:defRPr>
            </a:pPr>
            <a:r>
              <a:t>Vedant Kannan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463EB"/>
                </a:solidFill>
                <a:latin typeface="Aptos"/>
              </a:defRPr>
            </a:pPr>
            <a:r>
              <a:t>Project Coordinator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4825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Aptos"/>
              </a:defRPr>
            </a:pPr>
            <a:r>
              <a:t>Overall coordination &amp; deadlines</a:t>
            </a:r>
          </a:p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Documentation &amp; 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3949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64224" y="1581912"/>
            <a:ext cx="621792" cy="6217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783" y="1682495"/>
            <a:ext cx="4026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463039"/>
            <a:ext cx="11137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Gowtham</a:t>
            </a:r>
            <a:r>
              <a:rPr lang="en-US" dirty="0"/>
              <a:t> M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159752" y="1783080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Aptos"/>
              </a:defRPr>
            </a:pPr>
            <a:r>
              <a:t>Data 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04825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Aptos"/>
              </a:defRPr>
            </a:pPr>
            <a:r>
              <a:t>Data understanding &amp; data dictionary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88920"/>
            <a:ext cx="53949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8952" y="3044952"/>
            <a:ext cx="621792" cy="6217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511" y="3145536"/>
            <a:ext cx="4026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926079"/>
            <a:ext cx="13961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Nivedita </a:t>
            </a:r>
            <a:r>
              <a:rPr dirty="0" err="1"/>
              <a:t>Sarnad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554480" y="3246120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A580C"/>
                </a:solidFill>
                <a:latin typeface="Aptos"/>
              </a:defRPr>
            </a:pPr>
            <a:r>
              <a:t>Data Cleaning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1129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Aptos"/>
              </a:defRPr>
            </a:pPr>
            <a:r>
              <a:t>Cleaning &amp; preparing dataset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788920"/>
            <a:ext cx="53949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64224" y="3044952"/>
            <a:ext cx="621792" cy="621792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783" y="3145536"/>
            <a:ext cx="4026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2926079"/>
            <a:ext cx="13165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Chandrakala 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3246120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463EB"/>
                </a:solidFill>
                <a:latin typeface="Aptos"/>
              </a:defRPr>
            </a:pPr>
            <a:r>
              <a:t>KPI Analyst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351129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Aptos"/>
              </a:defRPr>
            </a:pPr>
            <a:r>
              <a:t>KPI calculations &amp; formulas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51960"/>
            <a:ext cx="53949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58952" y="4507992"/>
            <a:ext cx="621792" cy="6217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511" y="4608576"/>
            <a:ext cx="4026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389120"/>
            <a:ext cx="12229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Ketan Jadhav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709160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Aptos"/>
              </a:defRPr>
            </a:pPr>
            <a:r>
              <a:t>Visualization Analyst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97433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Aptos"/>
              </a:defRPr>
            </a:pPr>
            <a:r>
              <a:t>Charts &amp; dashboard visuals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4251960"/>
            <a:ext cx="53949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64224" y="4507992"/>
            <a:ext cx="621792" cy="6217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783" y="4608576"/>
            <a:ext cx="4026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4389120"/>
            <a:ext cx="4160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Rajveer Singh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4709160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A580C"/>
                </a:solidFill>
                <a:latin typeface="Aptos"/>
              </a:defRPr>
            </a:pPr>
            <a:r>
              <a:t>Business Insights Analyst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497433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Aptos"/>
              </a:defRPr>
            </a:pPr>
            <a:r>
              <a:t>Findings &amp; recommendations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Team Structure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1. Objective &amp;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rPr dirty="0"/>
              <a:t>Turning raw hotel booking data into decision-ready management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 dirty="0"/>
              <a:t>Hospitality Analytics Dashboard  |  Final Project Presentation                            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Hotel management needs a consolidated view of operational and financial performance. Raw booking records make it difficult to compare properties, cities, room categories, booking platforms and time periods.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80744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t>Build a multi-tool analytics solution that measures revenue and bookings, compares occupancy, identifies revenue concentration, tracks trends, quantifies cancellation leakage and supports management decisions through dashboards.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• Measure overall booking and revenue performance.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• Compare occupancy across cities and properties.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• Understand revenue contribution by hotel, room category and booking platform.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• Track monthly movement and weekday/weekend performance.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• Measure cancellation rate, ratings and revenue loss.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• Translate analysis into actionable business recommendations.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2. Dataset &amp;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Fact-and-dimension structure used consistently across the analytics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/ Module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fields / measures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fact_bookings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Booking-level 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Booking ID, property, dates, guests, room, platform, rating, status, generated &amp; realized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fact_aggregated_bookings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Occupancy fact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Property, check-in date, room category, successful bookings, capacity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dim_hotels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Hotel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Property ID, property name, category,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dim_rooms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Room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Room ID, room class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dim_date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Date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Date, month label, week number, day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886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03250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Module 1 —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389120"/>
            <a:ext cx="31546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t>Data preparation, PivotTables/PivotCharts, KPI cards and interactive dashboard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3886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403250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Module 2 —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4389120"/>
            <a:ext cx="31546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t>Database validation, KPI calculations, joins, conditional aggregation, trends and hotel performance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3886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403250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Modules 3 &amp; 4 —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4389120"/>
            <a:ext cx="31546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ptos"/>
              </a:defRPr>
            </a:pPr>
            <a:r>
              <a:t>Power BI and Tableau translate validated analysis into interactive visual decision-support 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5955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5559552"/>
            <a:ext cx="64008" cy="65836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rPr dirty="0"/>
              <a:t>BOOKING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906007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134,590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750559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rPr dirty="0" err="1"/>
              <a:t>fact_bookings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3520440" y="555955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20440" y="5559552"/>
            <a:ext cx="6400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5604255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rPr dirty="0"/>
              <a:t>OCCUPANCY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5906007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9,200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5738366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rPr dirty="0"/>
              <a:t>aggregated fact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55955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5559552"/>
            <a:ext cx="64008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5604255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rPr dirty="0"/>
              <a:t>REALIZED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94360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₹170.88 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6812" y="5769864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rPr dirty="0"/>
              <a:t>dataset total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5559552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98280" y="5559552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62872" y="5621528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rPr dirty="0"/>
              <a:t>REVENUE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593851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₹29.88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5769864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rPr dirty="0"/>
              <a:t>generated − realized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3. Module 1 — Excel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The Excel layer establishes the analytical foundation and validates the business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4612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rPr dirty="0"/>
              <a:t>• Organized the fact and dimension data.</a:t>
            </a:r>
            <a:endParaRPr lang="en-US" dirty="0"/>
          </a:p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br>
              <a:rPr dirty="0"/>
            </a:br>
            <a:r>
              <a:rPr dirty="0"/>
              <a:t>• Built PivotTables for hotel, city, room, platform and monthly analysis.</a:t>
            </a:r>
            <a:endParaRPr lang="en-US" dirty="0"/>
          </a:p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br>
              <a:rPr dirty="0"/>
            </a:br>
            <a:r>
              <a:rPr dirty="0"/>
              <a:t>• Created KPI calculations for revenue, bookings, rating, cancellation rate and revenue loss.</a:t>
            </a:r>
            <a:endParaRPr lang="en-US" dirty="0"/>
          </a:p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br>
              <a:rPr dirty="0"/>
            </a:br>
            <a:r>
              <a:rPr dirty="0"/>
              <a:t>• Built </a:t>
            </a:r>
            <a:r>
              <a:rPr dirty="0" err="1"/>
              <a:t>PivotCharts</a:t>
            </a:r>
            <a:r>
              <a:rPr dirty="0"/>
              <a:t> for categorical comparisons and monthly trends.</a:t>
            </a:r>
            <a:endParaRPr lang="en-US" dirty="0"/>
          </a:p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br>
              <a:rPr dirty="0"/>
            </a:br>
            <a:r>
              <a:rPr dirty="0"/>
              <a:t>• Added slicers for City, Booking Platform and Booking Status.</a:t>
            </a:r>
            <a:endParaRPr lang="en-US" dirty="0"/>
          </a:p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br>
              <a:rPr dirty="0"/>
            </a:br>
            <a:r>
              <a:rPr dirty="0"/>
              <a:t>• Created a dedicated presentation dashboard with KPI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Why Excel was useful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37360"/>
            <a:ext cx="32461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rPr dirty="0"/>
              <a:t>Excel provides a fast validation layer before BI publishing. PivotTables make it easy to test whether totals and rankings make business sense, while formula-driven KPI cards reduce manual reporting effort.</a:t>
            </a:r>
            <a:br>
              <a:rPr dirty="0"/>
            </a:br>
            <a:br>
              <a:rPr dirty="0"/>
            </a:br>
            <a:r>
              <a:rPr dirty="0"/>
              <a:t>The Excel output becomes a benchmark for the SQL and BI versions of the same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23444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5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Key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737360"/>
            <a:ext cx="324612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rPr dirty="0"/>
              <a:t>A management-friendly analytical workbook covering:</a:t>
            </a:r>
            <a:br>
              <a:rPr dirty="0"/>
            </a:br>
            <a:r>
              <a:rPr lang="en-US" dirty="0"/>
              <a:t>1. </a:t>
            </a:r>
            <a:r>
              <a:rPr dirty="0"/>
              <a:t>Revenue performance</a:t>
            </a:r>
            <a:br>
              <a:rPr dirty="0"/>
            </a:br>
            <a:r>
              <a:rPr lang="en-US" dirty="0"/>
              <a:t>2. </a:t>
            </a:r>
            <a:r>
              <a:rPr dirty="0"/>
              <a:t>Booking volume</a:t>
            </a:r>
            <a:br>
              <a:rPr dirty="0"/>
            </a:br>
            <a:r>
              <a:rPr lang="en-US" dirty="0"/>
              <a:t>3. </a:t>
            </a:r>
            <a:r>
              <a:rPr dirty="0"/>
              <a:t>Occupancy</a:t>
            </a:r>
            <a:br>
              <a:rPr dirty="0"/>
            </a:br>
            <a:r>
              <a:rPr lang="en-US" dirty="0"/>
              <a:t>4. </a:t>
            </a:r>
            <a:r>
              <a:rPr dirty="0"/>
              <a:t>Hotel / city comparison</a:t>
            </a:r>
            <a:br>
              <a:rPr dirty="0"/>
            </a:br>
            <a:r>
              <a:rPr lang="en-US" dirty="0"/>
              <a:t>5. </a:t>
            </a:r>
            <a:r>
              <a:rPr dirty="0"/>
              <a:t>Room-class mix</a:t>
            </a:r>
            <a:br>
              <a:rPr dirty="0"/>
            </a:br>
            <a:r>
              <a:rPr lang="en-US" dirty="0"/>
              <a:t>6. </a:t>
            </a:r>
            <a:r>
              <a:rPr dirty="0"/>
              <a:t>Booking-channel mix</a:t>
            </a:r>
            <a:br>
              <a:rPr dirty="0"/>
            </a:br>
            <a:r>
              <a:rPr lang="en-US" dirty="0"/>
              <a:t>7. </a:t>
            </a:r>
            <a:r>
              <a:rPr dirty="0"/>
              <a:t>Monthly trend</a:t>
            </a:r>
            <a:br>
              <a:rPr dirty="0"/>
            </a:br>
            <a:r>
              <a:rPr lang="en-US" dirty="0"/>
              <a:t>8. </a:t>
            </a:r>
            <a:r>
              <a:rPr dirty="0"/>
              <a:t>Cancellation and revenue leakage</a:t>
            </a:r>
            <a:br>
              <a:rPr dirty="0"/>
            </a:br>
            <a:r>
              <a:rPr lang="en-US" dirty="0"/>
              <a:t>9. </a:t>
            </a:r>
            <a:r>
              <a:rPr dirty="0"/>
              <a:t>Interactive filtering</a:t>
            </a:r>
            <a:br>
              <a:rPr dirty="0"/>
            </a:br>
            <a:br>
              <a:rPr dirty="0"/>
            </a:br>
            <a:r>
              <a:rPr dirty="0"/>
              <a:t>The dashboard is designed to answer “where is performance coming from and where is attention required?”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338028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lang="en-US" dirty="0"/>
              <a:t>4</a:t>
            </a:r>
            <a:r>
              <a:rPr dirty="0"/>
              <a:t>. Module 3 —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Interactive reporting layer for management exploration and KPI monitoring.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46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Import the validated dataset / analytical outputs, establish the data model, create measures, and build a management dashboard around the same KPI definitions.</a:t>
            </a:r>
            <a:br/>
            <a:br/>
            <a:r>
              <a:t>The focus is not just visualization: filters and relationships allow users to move from a headline KPI to the underlying business dimension.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Recommended visual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37360"/>
            <a:ext cx="3246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Top: KPI cards — revenue, bookings, occupancy, cancellation rate, realization / loss.</a:t>
            </a:r>
            <a:br/>
            <a:br/>
            <a:r>
              <a:t>Middle: revenue by city / hotel and occupancy comparison.</a:t>
            </a:r>
            <a:br/>
            <a:br/>
            <a:r>
              <a:t>Bottom: room-class contribution, platform performance and monthly trend.</a:t>
            </a:r>
            <a:br/>
            <a:br/>
            <a:r>
              <a:t>Filters: City, Booking Status, Booking Platform, Property and time where implemented.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5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737360"/>
            <a:ext cx="3246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Power BI turns validated SQL/Excel calculations into an interactive decision-support layer.</a:t>
            </a:r>
            <a:br/>
            <a:br/>
            <a:r>
              <a:t>Management can identify:</a:t>
            </a:r>
            <a:br/>
            <a:r>
              <a:t>• high / low performing properties</a:t>
            </a:r>
            <a:br/>
            <a:r>
              <a:t>• revenue concentration</a:t>
            </a:r>
            <a:br/>
            <a:r>
              <a:t>• utilization differences</a:t>
            </a:r>
            <a:br/>
            <a:r>
              <a:t>• cancellation leakage</a:t>
            </a:r>
            <a:br/>
            <a:r>
              <a:t>• channel dependence</a:t>
            </a:r>
            <a:br/>
            <a:r>
              <a:t>• trend changes</a:t>
            </a:r>
            <a:br/>
            <a:br/>
            <a:r>
              <a:t>The BI layer should preserve the same KPI definitions used in validation.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1324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lang="en-US" dirty="0"/>
              <a:t>5</a:t>
            </a:r>
            <a:r>
              <a:rPr dirty="0"/>
              <a:t>. Module 2 — SQL / MySQL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SQL converts the model into repeatable, testable and presentation-ready business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SQL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337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1. Create / select the hospitality_analytics database.</a:t>
            </a:r>
            <a:br/>
            <a:r>
              <a:t>2. Validate tables using SHOW TABLES and DESCRIBE.</a:t>
            </a:r>
            <a:br/>
            <a:r>
              <a:t>3. Validate row counts and booking IDs.</a:t>
            </a:r>
            <a:br/>
            <a:r>
              <a:t>4. Calculate core KPIs.</a:t>
            </a:r>
            <a:br/>
            <a:r>
              <a:t>5. Join fact tables to dimensions.</a:t>
            </a:r>
            <a:br/>
            <a:r>
              <a:t>6. Group results by hotel, city, room, platform and time.</a:t>
            </a:r>
            <a:br/>
            <a:r>
              <a:t>7. Use CASE WHEN for conditional metrics.</a:t>
            </a:r>
            <a:br/>
            <a:r>
              <a:t>8. Use DATE_FORMAT / STR_TO_DATE for date analysis.</a:t>
            </a:r>
            <a:br/>
            <a:r>
              <a:t>9. Use CTEs and LAG() for advanced weekly comparisons.</a:t>
            </a:r>
            <a:br/>
            <a:r>
              <a:t>10. Produce a consolidated hotel performance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23444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8074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Core SQL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37360"/>
            <a:ext cx="31089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JOIN — combine facts with descriptive dimensions.</a:t>
            </a:r>
            <a:br/>
            <a:r>
              <a:t>GROUP BY — aggregate KPIs by business dimension.</a:t>
            </a:r>
            <a:br/>
            <a:r>
              <a:t>ORDER BY — rank performance.</a:t>
            </a:r>
            <a:br/>
            <a:r>
              <a:t>CASE WHEN — conditional counting / aggregation.</a:t>
            </a:r>
            <a:br/>
            <a:r>
              <a:t>NULLIF — protect ratio calculations.</a:t>
            </a:r>
            <a:br/>
            <a:r>
              <a:t>ROUND — presentation-ready numbers.</a:t>
            </a:r>
            <a:br/>
            <a:r>
              <a:t>CTE / WITH — readable multi-step logic.</a:t>
            </a:r>
            <a:br/>
            <a:r>
              <a:t>LAG() — week-over-week movement.</a:t>
            </a:r>
            <a:br/>
            <a:r>
              <a:t>Subqueries — align revenue and capacity before ratios.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23444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0455" y="138074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Business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1737360"/>
            <a:ext cx="3291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• Revenue and booking totals</a:t>
            </a:r>
            <a:br/>
            <a:r>
              <a:t>• Occupancy and capacity</a:t>
            </a:r>
            <a:br/>
            <a:r>
              <a:t>• Cancellation / no-show analysis</a:t>
            </a:r>
            <a:br/>
            <a:r>
              <a:t>• ADR and RevPAR</a:t>
            </a:r>
            <a:br/>
            <a:r>
              <a:t>• Hotel / city / room performance</a:t>
            </a:r>
            <a:br/>
            <a:r>
              <a:t>• Platform performance</a:t>
            </a:r>
            <a:br/>
            <a:r>
              <a:t>• Weekday vs weekend</a:t>
            </a:r>
            <a:br/>
            <a:r>
              <a:t>• Monthly revenue trend</a:t>
            </a:r>
            <a:br/>
            <a:r>
              <a:t>• WoW KPI movement</a:t>
            </a:r>
            <a:br/>
            <a:r>
              <a:t>• Complete hotel scorecard</a:t>
            </a:r>
            <a:br/>
            <a:br/>
            <a:r>
              <a:t>SQL is the validation and analytical engine behind the dashboards.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6. Module 4 — Tableau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A second visualization layer to communicate the same analytical story through an interactive visual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Analytical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46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Tableau can present the same validated measures with emphasis on visual exploration:</a:t>
            </a:r>
            <a:br/>
            <a:br/>
            <a:r>
              <a:t>• Revenue and booking KPIs</a:t>
            </a:r>
            <a:br/>
            <a:r>
              <a:t>• City / hotel comparison</a:t>
            </a:r>
            <a:br/>
            <a:r>
              <a:t>• Occupancy</a:t>
            </a:r>
            <a:br/>
            <a:r>
              <a:t>• Room-class mix</a:t>
            </a:r>
            <a:br/>
            <a:r>
              <a:t>• Booking-channel performance</a:t>
            </a:r>
            <a:br/>
            <a:r>
              <a:t>• Monthly / weekly trend</a:t>
            </a:r>
            <a:br/>
            <a:r>
              <a:t>• Booking-status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37360"/>
            <a:ext cx="3246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Use the visual form that matches the question:</a:t>
            </a:r>
            <a:br/>
            <a:r>
              <a:t>• bars for categorical ranking</a:t>
            </a:r>
            <a:br/>
            <a:r>
              <a:t>• lines for time trends</a:t>
            </a:r>
            <a:br/>
            <a:r>
              <a:t>• KPI cards for headline metrics</a:t>
            </a:r>
            <a:br/>
            <a:r>
              <a:t>• filters for slicing the same business measure</a:t>
            </a:r>
            <a:br/>
            <a:br/>
            <a:r>
              <a:t>The objective is consistency across Excel, Power BI and Tableau—not three different versions of the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23444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5" y="1380744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737360"/>
            <a:ext cx="3246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Tableau provides an alternate stakeholder-facing view of the validated analytics.</a:t>
            </a:r>
            <a:br/>
            <a:br/>
            <a:r>
              <a:t>A strong presentation should demonstrate:</a:t>
            </a:r>
            <a:br/>
            <a:r>
              <a:t>1. What changed?</a:t>
            </a:r>
            <a:br/>
            <a:r>
              <a:t>2. Where did it happen?</a:t>
            </a:r>
            <a:br/>
            <a:r>
              <a:t>3. Which business dimension explains it?</a:t>
            </a:r>
            <a:br/>
            <a:r>
              <a:t>4. What action should management take?</a:t>
            </a:r>
            <a:br/>
            <a:br/>
            <a:r>
              <a:t>The screenshot on the later slide will be used to show the final Tableau dashboard.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7. Executive KPI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Final benchmark values from the project dataset / validated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64008" cy="10515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624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TOTAL 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134,590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0195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booking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234440"/>
            <a:ext cx="64008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13624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REVENUE 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66420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₹200.75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0195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potential / generated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64008" cy="10515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3624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REVENUE REALIZED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66420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₹170.88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90195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realized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1234440"/>
            <a:ext cx="64008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13624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REVENUE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166420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₹29.88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190195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generated − realized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5146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2514600"/>
            <a:ext cx="64008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264261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REALIZATION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294436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85.12%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18211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realized / generated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25146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83280" y="2514600"/>
            <a:ext cx="64008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47872" y="264261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CANCELLATION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294436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24.83%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318211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cancelled / total bookings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25146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2514600"/>
            <a:ext cx="64008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264261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NO-SHOW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94436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5.02%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318211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no-show / total bookings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25146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52560" y="2514600"/>
            <a:ext cx="64008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17152" y="264261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AVERAGE RATING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294436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3.62 /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318211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customer rating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3794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48640" y="3794760"/>
            <a:ext cx="64008" cy="10515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" y="39227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AVG. GUESTS / BOOKING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422452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2.04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446227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guest count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3794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383280" y="3794760"/>
            <a:ext cx="64008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47872" y="39227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OVERALL OCCUPANCY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872" y="422452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57.87%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47872" y="446227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successful bookings / capacity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3794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17920" y="3794760"/>
            <a:ext cx="64008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82512" y="39227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ADR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82512" y="4224528"/>
            <a:ext cx="13067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₹1</a:t>
            </a:r>
            <a:r>
              <a:rPr lang="en-US" dirty="0"/>
              <a:t>2,696</a:t>
            </a:r>
            <a:r>
              <a:rPr dirty="0"/>
              <a:t>.</a:t>
            </a:r>
            <a:r>
              <a:rPr lang="en-US" dirty="0"/>
              <a:t>1</a:t>
            </a:r>
            <a:r>
              <a:rPr dirty="0"/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82512" y="446227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current SQL definition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52560" y="37947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052560" y="3794760"/>
            <a:ext cx="64008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17152" y="39227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CANCELLED BOOKINGS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7152" y="422452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A"/>
                </a:solidFill>
                <a:latin typeface="Aptos Display"/>
              </a:defRPr>
            </a:pPr>
            <a:r>
              <a:t>33,420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7152" y="4462272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high-impact leakage segment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8. Key Analysis — Revenue, City &amp;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What the data says about revenue concentration and operational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5486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Realized revenue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₹66.86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Highest realized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Bangalore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₹42.04 Cr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Second-highest realized revenue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Hyderabad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₹32.52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Mid-tier 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₹29.45 Cr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Lowest among four by realized revenue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09360" y="1325880"/>
            <a:ext cx="5303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72184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Property-level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Atliq Exotica is identified in the project documentation as the highest-revenue hotel in the final transactional analysis, at approximately ₹37.47 Cr of generated revenue. This makes property-level benchmarking important for identifying repeatable operating practices.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31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07822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Delhi has the highest city occupancy at 60.55%, while Bangalore is lowest at 55.77%. Revenue leadership and utilization leadership are therefore not identical.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31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407822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Room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434840"/>
            <a:ext cx="31546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rPr lang="en-US" dirty="0"/>
              <a:t>Elite (RT2) is the highest room-category contributor at approximately ₹65.89 Cr generated revenue and ₹56.03 Cr realized revenue, followed by Premium (RT3).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092440" y="3931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407822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Monthly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4434840"/>
            <a:ext cx="31546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rPr lang="en-US" dirty="0"/>
              <a:t>May is the strongest month at approximately ₹68.39 Cr generated revenue; June is ₹65.19 Cr and July is ₹67.17 Cr. The dataset covers May–July 2022.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9. Key Analysis — Booking, Occupancy, Room &amp;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The operational story behind the revenue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53949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Booking status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Bookings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Realization rate</a:t>
                      </a:r>
                    </a:p>
                  </a:txBody>
                  <a:tcPr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Checked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94,411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Cancelled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33,420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No 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6,759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325880"/>
            <a:ext cx="5394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72184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Aptos"/>
              </a:defRPr>
            </a:pPr>
            <a:r>
              <a:t>Cancellation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Cancelled bookings account for 24.83% of all booking records. In the current SQL result, cancelled bookings generated about ₹49.80 Cr but realized only about ₹1.92 Cr. The gap is approximately ₹47.88 Cr within the cancelled segment.</a:t>
            </a:r>
            <a:br/>
            <a:br/>
            <a:r>
              <a:t>This is the clearest revenue-leakage investigation 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233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16966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31546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0F172A"/>
                </a:solidFill>
                <a:latin typeface="Aptos"/>
              </a:defRPr>
            </a:pPr>
            <a:r>
              <a:t>“Others” is the largest revenue-contributing booking-platform grouping in the project documentation, indicating dependence on a broad / less granular channel bucket.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0233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416966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ADR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526280"/>
            <a:ext cx="3154679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0F172A"/>
                </a:solidFill>
                <a:latin typeface="Aptos"/>
              </a:defRPr>
            </a:pPr>
            <a:r>
              <a:rPr dirty="0"/>
              <a:t>Current SQL ADR result: ₹1</a:t>
            </a:r>
            <a:r>
              <a:rPr lang="en-US" dirty="0"/>
              <a:t>2,696.12</a:t>
            </a:r>
            <a:r>
              <a:rPr dirty="0"/>
              <a:t>. In this project definition, ADR is realized revenue divided by booking count; definitions should be standardized before production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0233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4169664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Weekday vs weekend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4526280"/>
            <a:ext cx="31546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0F172A"/>
                </a:solidFill>
                <a:latin typeface="Aptos"/>
              </a:defRPr>
            </a:pPr>
            <a:r>
              <a:t>The project includes day-type analysis using dim_date. This supports comparison of booking volume and revenue between weekday and weekend demand patterns.</a:t>
            </a:r>
          </a:p>
        </p:txBody>
      </p:sp>
    </p:spTree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56360" y="58755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10. Dashboard Screenshot —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4709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D4B5AD-8676-C8F5-0385-6B66BEF46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1486519"/>
            <a:ext cx="9347199" cy="4152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69720" y="501766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11. Dashboard Screenshot —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4709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D3503-AAB6-54D2-5EDD-CA486062A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05" y="1396724"/>
            <a:ext cx="9476509" cy="4500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2012" y="6355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12. Dashboard Screenshot —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4709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86DF97-634E-B047-DA9A-4AA4C135C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012" y="1549428"/>
            <a:ext cx="9809480" cy="4198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t>13. SQL Analytics Report — 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SQL was used as the repeatable analytical engine and validation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r>
              <a:t>Core KPI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0F172A"/>
                </a:solidFill>
                <a:latin typeface="Aptos"/>
              </a:defRPr>
            </a:pPr>
            <a:r>
              <a:t>Revenue — SUM(revenue_realized)</a:t>
            </a:r>
            <a:br/>
            <a:r>
              <a:t>Bookings — COUNT(booking_id)</a:t>
            </a:r>
            <a:br/>
            <a:r>
              <a:t>Capacity — SUM(capacity)</a:t>
            </a:r>
            <a:br/>
            <a:r>
              <a:t>Successful bookings — SUM(successful_bookings)</a:t>
            </a:r>
            <a:br/>
            <a:r>
              <a:t>Occupancy — successful bookings ÷ capacity × 100</a:t>
            </a:r>
            <a:br/>
            <a:r>
              <a:t>Cancellation % — cancelled ÷ total bookings × 100</a:t>
            </a:r>
            <a:br/>
            <a:r>
              <a:t>No-show % — no-shows ÷ total bookings × 100</a:t>
            </a:r>
            <a:br/>
            <a:r>
              <a:t>ADR — revenue ÷ booking count</a:t>
            </a:r>
            <a:br/>
            <a:r>
              <a:t>Realization % — realized revenue ÷ generated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23444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380744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ptos"/>
              </a:defRPr>
            </a:pPr>
            <a:r>
              <a:t>Analysis / dashboard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0F172A"/>
                </a:solidFill>
                <a:latin typeface="Aptos"/>
              </a:defRPr>
            </a:pPr>
            <a:r>
              <a:t>Hotel revenue</a:t>
            </a:r>
            <a:br/>
            <a:r>
              <a:t>City revenue</a:t>
            </a:r>
            <a:br/>
            <a:r>
              <a:t>Hotel category revenue</a:t>
            </a:r>
            <a:br/>
            <a:r>
              <a:t>Revenue by room class</a:t>
            </a:r>
            <a:br/>
            <a:r>
              <a:t>Revenue by booking platform</a:t>
            </a:r>
            <a:br/>
            <a:r>
              <a:t>Cancellation by hotel</a:t>
            </a:r>
            <a:br/>
            <a:r>
              <a:t>Occupancy by hotel / room class</a:t>
            </a:r>
            <a:br/>
            <a:r>
              <a:t>Weekday vs weekend revenue</a:t>
            </a:r>
            <a:br/>
            <a:r>
              <a:t>Monthly revenue</a:t>
            </a:r>
            <a:br/>
            <a:r>
              <a:t>Top 5 hotels</a:t>
            </a:r>
            <a:br/>
            <a:r>
              <a:t>Complete hotel performance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234440"/>
            <a:ext cx="363931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4736" y="1380744"/>
            <a:ext cx="33192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Aptos"/>
              </a:defRPr>
            </a:pPr>
            <a:r>
              <a:t>Advanced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737360"/>
            <a:ext cx="3319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0F172A"/>
                </a:solidFill>
                <a:latin typeface="Aptos"/>
              </a:defRPr>
            </a:pPr>
            <a:r>
              <a:t>JOIN — fact + dimensions</a:t>
            </a:r>
            <a:br/>
            <a:r>
              <a:t>GROUP BY — business aggregation</a:t>
            </a:r>
            <a:br/>
            <a:r>
              <a:t>CASE WHEN — conditional metrics</a:t>
            </a:r>
            <a:br/>
            <a:r>
              <a:t>NULLIF — safe ratios</a:t>
            </a:r>
            <a:br/>
            <a:r>
              <a:t>DATE_FORMAT / STR_TO_DATE — date handling</a:t>
            </a:r>
            <a:br/>
            <a:r>
              <a:t>CTEs — readable intermediate calculations</a:t>
            </a:r>
            <a:br/>
            <a:r>
              <a:t>LAG() — week-over-week comparisons</a:t>
            </a:r>
            <a:br/>
            <a:r>
              <a:t>Subqueries — align revenue and capacity</a:t>
            </a:r>
            <a:br/>
            <a:br/>
            <a:r>
              <a:t>The final hotel report combines booking and occupancy summaries into one management-friendly view.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4</a:t>
            </a:r>
            <a:r>
              <a:rPr dirty="0"/>
              <a:t>. 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321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The analysis converts the same hospitality dataset into a consistent business story across Excel, SQL, Power BI and Tableau.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8952" y="1463039"/>
            <a:ext cx="54864" cy="10881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5389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F2937"/>
                </a:solidFill>
                <a:latin typeface="Aptos"/>
              </a:defRPr>
            </a:pPr>
            <a:r>
              <a:t>1  Revenue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Mumbai is the strongest revenue-generating city, followed by Bangalore, Hyderabad and Delhi. Property-level revenue is also concentrated among a few leading properties.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298448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43983" y="1463039"/>
            <a:ext cx="54864" cy="10881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45389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F2937"/>
                </a:solidFill>
                <a:latin typeface="Aptos"/>
              </a:defRPr>
            </a:pPr>
            <a:r>
              <a:t>2  Booking volume vs.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810512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The “Others” booking-platform bucket contributes the highest booking volume and revenue. Channel comparison should therefore consider revenue per booking, not volume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4" y="1298448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29016" y="1463039"/>
            <a:ext cx="54864" cy="108813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4" y="145389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F2937"/>
                </a:solidFill>
                <a:latin typeface="Aptos"/>
              </a:defRPr>
            </a:pPr>
            <a:r>
              <a:t>3  Cancellation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810512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33,420 bookings are cancelled. The analysis shows a clear gap between revenue generated and revenue realized for cancelled bookings, making cancellation control a direct revenue opportunity.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26080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" y="3090672"/>
            <a:ext cx="54864" cy="10881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81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F2937"/>
                </a:solidFill>
                <a:latin typeface="Aptos"/>
              </a:defRPr>
            </a:pPr>
            <a:r>
              <a:t>4  Room-category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Elite generates the highest realized revenue among the room categories, followed by Premium, Presidential and Standard. This supports differentiated pricing and upselling strategies.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2926080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43983" y="3090672"/>
            <a:ext cx="54864" cy="10881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3081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F2937"/>
                </a:solidFill>
                <a:latin typeface="Aptos"/>
              </a:defRPr>
            </a:pPr>
            <a:r>
              <a:t>5  Occupancy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438144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Overall occupancy is approximately 57.87%. The result indicates meaningful unused capacity and supports property-level demand management and targeted promotional 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64424" y="2926080"/>
            <a:ext cx="35478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29016" y="3090672"/>
            <a:ext cx="54864" cy="108813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0184" y="3081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F2937"/>
                </a:solidFill>
                <a:latin typeface="Aptos"/>
              </a:defRPr>
            </a:pPr>
            <a:r>
              <a:t>6  Weekday demand strength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3438144"/>
            <a:ext cx="3017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Weekday bookings and revenue are materially higher than weekend performance. Staffing, pricing and promotional planning can therefore be aligned more closely with day-type demand.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681728"/>
            <a:ext cx="10917936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85546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Analysis benchmark  |  134,590 bookings  |  ₹200.75 Cr generated  |  ₹170.88 Cr realized  |  57.87% occupancy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68865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. Major KPI Recommendations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ptos"/>
              </a:defRPr>
            </a:pPr>
            <a:r>
              <a:t>The analysis should lead to action, not only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" y="1234440"/>
            <a:ext cx="297613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Aptos"/>
              </a:defRPr>
            </a:pPr>
            <a:r>
              <a:rPr sz="1200" dirty="0"/>
              <a:t>Major KPI / Business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1457343"/>
            <a:ext cx="5326380" cy="184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40">
                <a:solidFill>
                  <a:srgbClr val="0F172A"/>
                </a:solidFill>
                <a:latin typeface="Aptos"/>
              </a:defRPr>
            </a:pPr>
            <a:r>
              <a:rPr sz="1100" dirty="0"/>
              <a:t>1. Reduce cancellation leakage — 24.83% cancellation rate is the highest-impact operational issue; analyze property, platform and booking-window drivers.</a:t>
            </a:r>
            <a:br>
              <a:rPr sz="1100" dirty="0"/>
            </a:br>
            <a:r>
              <a:rPr sz="1100" dirty="0"/>
              <a:t>2. Protect high-value channels — benchmark channel profitability, not only booking volume; improve visibility into the “others” bucket.</a:t>
            </a:r>
            <a:br>
              <a:rPr sz="1100" dirty="0"/>
            </a:br>
            <a:r>
              <a:rPr sz="1100" dirty="0"/>
              <a:t>3. Improve low-utilization markets — compare occupancy and revenue together; investigate why Bangalore trails Delhi on occupancy.</a:t>
            </a:r>
            <a:br>
              <a:rPr sz="1100" dirty="0"/>
            </a:br>
            <a:r>
              <a:rPr sz="1100" dirty="0"/>
              <a:t>4. Optimize room mix — Elite is the strongest room-category revenue contributor; use pricing and upsell strategies around high-value </a:t>
            </a:r>
            <a:r>
              <a:rPr dirty="0"/>
              <a:t>categories.</a:t>
            </a:r>
            <a:br>
              <a:rPr dirty="0"/>
            </a:br>
            <a:r>
              <a:rPr dirty="0"/>
              <a:t>5. Standardize KPI definitions — especially ADR / RevPAR denominators before production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6280" y="3469023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33A"/>
                </a:solidFill>
                <a:latin typeface="Aptos"/>
              </a:defRPr>
            </a:pPr>
            <a:r>
              <a:rPr dirty="0"/>
              <a:t>Final 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30319"/>
            <a:ext cx="51663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rPr dirty="0"/>
              <a:t>The project successfully converts raw hospitality transactions into a structured decision-support solution across Excel, SQL, Power BI and Tableau.</a:t>
            </a:r>
            <a:br>
              <a:rPr dirty="0"/>
            </a:br>
            <a:br>
              <a:rPr dirty="0"/>
            </a:br>
            <a:r>
              <a:rPr dirty="0"/>
              <a:t>The strongest management message is not simply “revenue is high”; it is that performance is concentrated by city / property / room / channel, while cancellations create a material gap between generated and realized revenue.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6400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316736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REVENUE REALIZATION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61848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33A"/>
                </a:solidFill>
                <a:latin typeface="Aptos Display"/>
              </a:defRPr>
            </a:pPr>
            <a:r>
              <a:t>85.12%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99339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opportunity remains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18872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188720"/>
            <a:ext cx="6400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1316736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CANCELLATION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161848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33A"/>
                </a:solidFill>
                <a:latin typeface="Aptos Display"/>
              </a:defRPr>
            </a:pPr>
            <a:r>
              <a:t>24.83%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199339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priority issue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9748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2697480"/>
            <a:ext cx="64008" cy="1188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2825496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OCCUPANCY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12724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33A"/>
                </a:solidFill>
                <a:latin typeface="Aptos Display"/>
              </a:defRPr>
            </a:pPr>
            <a:r>
              <a:t>57.87%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50215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utilization 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269748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52560" y="2697480"/>
            <a:ext cx="6400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17152" y="2825496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ptos"/>
              </a:defRPr>
            </a:pPr>
            <a:r>
              <a:t>REVENUE 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12724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33A"/>
                </a:solidFill>
                <a:latin typeface="Aptos Display"/>
              </a:defRPr>
            </a:pPr>
            <a:r>
              <a:t>₹29.88 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350215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ptos"/>
              </a:defRPr>
            </a:pPr>
            <a:r>
              <a:t>management focus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2062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352544"/>
            <a:ext cx="18473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63EB"/>
                </a:solidFill>
                <a:latin typeface="Aptos"/>
              </a:defRPr>
            </a:pP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502400" y="4405728"/>
            <a:ext cx="475488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rPr lang="en-US" dirty="0"/>
              <a:t>The next step is to operationalize the dashboard with standardized KPI definitions, dynamic capacity logic, deeper cancellation root-cause analysis and regular performance monitoring.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6</a:t>
            </a:r>
            <a:r>
              <a:rPr dirty="0"/>
              <a:t>. Final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3210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A unified view of demand, revenue realization, channels, room mix and operational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69951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446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Aptos"/>
              </a:defRPr>
            </a:pPr>
            <a:r>
              <a:t>Overall business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6355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Aptos"/>
              </a:defRPr>
            </a:pPr>
            <a:r>
              <a:t>The business has strong booking demand and substantial revenue generation, but the analysis identifies a meaningful opportunity to improve revenue realization.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6263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The biggest priorities are to reduce cancellation leakage, improve channel-level visibility, increase utilization, and optimize room-category pricing. The same KPI definitions and validation checks should be retained across all reporting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36592"/>
            <a:ext cx="205740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4828032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Aptos"/>
              </a:defRPr>
            </a:pPr>
            <a:r>
              <a:t>VERDICT: IMPROVE REALIZATION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298448"/>
            <a:ext cx="3694176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1583" y="1554480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Management priority</a:t>
            </a:r>
          </a:p>
        </p:txBody>
      </p:sp>
      <p:sp>
        <p:nvSpPr>
          <p:cNvPr id="13" name="Oval 12"/>
          <p:cNvSpPr/>
          <p:nvPr/>
        </p:nvSpPr>
        <p:spPr>
          <a:xfrm>
            <a:off x="8119872" y="2103120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9872" y="2199132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130551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1">
                <a:solidFill>
                  <a:srgbClr val="1F2937"/>
                </a:solidFill>
                <a:latin typeface="Aptos"/>
              </a:defRPr>
            </a:pPr>
            <a:r>
              <a:t>Protect realized revenue</a:t>
            </a:r>
          </a:p>
        </p:txBody>
      </p:sp>
      <p:sp>
        <p:nvSpPr>
          <p:cNvPr id="16" name="Oval 15"/>
          <p:cNvSpPr/>
          <p:nvPr/>
        </p:nvSpPr>
        <p:spPr>
          <a:xfrm>
            <a:off x="8119872" y="2852927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2" y="2948939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88035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1">
                <a:solidFill>
                  <a:srgbClr val="1F2937"/>
                </a:solidFill>
                <a:latin typeface="Aptos"/>
              </a:defRPr>
            </a:pPr>
            <a:r>
              <a:t>Lift occupancy &amp; utilization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119872" y="3602735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2" y="3698748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630167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1">
                <a:solidFill>
                  <a:srgbClr val="1F2937"/>
                </a:solidFill>
                <a:latin typeface="Aptos"/>
              </a:defRPr>
            </a:pPr>
            <a:r>
              <a:t>Optimize channel economics</a:t>
            </a:r>
          </a:p>
        </p:txBody>
      </p:sp>
      <p:sp>
        <p:nvSpPr>
          <p:cNvPr id="22" name="Oval 21"/>
          <p:cNvSpPr/>
          <p:nvPr/>
        </p:nvSpPr>
        <p:spPr>
          <a:xfrm>
            <a:off x="8119872" y="4352544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19872" y="4448556"/>
            <a:ext cx="4389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37997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1">
                <a:solidFill>
                  <a:srgbClr val="1F2937"/>
                </a:solidFill>
                <a:latin typeface="Aptos"/>
              </a:defRPr>
            </a:pPr>
            <a:r>
              <a:t>Use KPI-driven review cycles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797296"/>
            <a:ext cx="10917936" cy="603504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5980176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F2937"/>
                </a:solidFill>
                <a:latin typeface="Aptos"/>
              </a:defRPr>
            </a:pPr>
            <a:r>
              <a:t>Final takeaway  |  Demand is healthy; the next value lever is converting more bookings into realized, profitable revenue.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5E5B-E307-CA95-31FB-E19DB2CB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A6B53-36A4-326B-825A-9F56963023E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649E3E-1990-4148-13CC-DF1B00C98DCA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9253F-4065-E20A-1661-CA0643EC3D4D}"/>
              </a:ext>
            </a:extLst>
          </p:cNvPr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Hospitality Analytics Dashboard  |  Final Project Presentation                                      12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53F2FC-93AA-1E6D-3C4E-ADA902C4E684}"/>
              </a:ext>
            </a:extLst>
          </p:cNvPr>
          <p:cNvSpPr/>
          <p:nvPr/>
        </p:nvSpPr>
        <p:spPr>
          <a:xfrm>
            <a:off x="685800" y="1325880"/>
            <a:ext cx="10835640" cy="4709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E5CB1-B0CF-ED38-6CBE-4EA7069F309E}"/>
              </a:ext>
            </a:extLst>
          </p:cNvPr>
          <p:cNvSpPr txBox="1"/>
          <p:nvPr/>
        </p:nvSpPr>
        <p:spPr>
          <a:xfrm>
            <a:off x="2133600" y="3036919"/>
            <a:ext cx="72339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6233A"/>
                </a:solidFill>
                <a:latin typeface="Aptos Display"/>
              </a:defRPr>
            </a:pPr>
            <a:r>
              <a:rPr lang="en-US" dirty="0"/>
              <a:t>Thank You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050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</TotalTime>
  <Words>2825</Words>
  <Application>Microsoft Office PowerPoint</Application>
  <PresentationFormat>Widescreen</PresentationFormat>
  <Paragraphs>289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vedant kannan</dc:creator>
  <cp:keywords/>
  <dc:description>generated using python-pptx</dc:description>
  <cp:lastModifiedBy>vedant kannan</cp:lastModifiedBy>
  <cp:revision>8</cp:revision>
  <dcterms:created xsi:type="dcterms:W3CDTF">2013-01-27T09:14:16Z</dcterms:created>
  <dcterms:modified xsi:type="dcterms:W3CDTF">2026-09-16T08:31:25Z</dcterms:modified>
  <cp:category/>
</cp:coreProperties>
</file>